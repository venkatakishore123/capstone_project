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7" r:id="rId21"/>
    <p:sldId id="278" r:id="rId22"/>
    <p:sldId id="279" r:id="rId23"/>
    <p:sldId id="280" r:id="rId24"/>
    <p:sldId id="281" r:id="rId25"/>
    <p:sldId id="274" r:id="rId26"/>
    <p:sldId id="275" r:id="rId2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904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2435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2393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53686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6146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990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705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9840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5671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18435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1131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9154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543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9446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840480" cy="384048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108960"/>
            <a:ext cx="2743200" cy="27432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55200" y="566784"/>
            <a:ext cx="1241280" cy="12254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68680"/>
            <a:ext cx="2834640" cy="347472"/>
          </a:xfrm>
          <a:prstGeom prst="roundRect">
            <a:avLst>
              <a:gd name="adj" fmla="val 21053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BATCH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Automation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249424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Framework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090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 ·  Java  ·  TestNG  ·  Page Object Model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93008"/>
            <a:ext cx="3657600" cy="3657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703320"/>
            <a:ext cx="5029200" cy="987552"/>
          </a:xfrm>
          <a:prstGeom prst="roundRect">
            <a:avLst>
              <a:gd name="adj" fmla="val 9259"/>
            </a:avLst>
          </a:prstGeom>
          <a:solidFill>
            <a:srgbClr val="142035"/>
          </a:solidFill>
          <a:ln w="12700">
            <a:solidFill>
              <a:srgbClr val="2A48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22192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Surisetti Venkata Kishore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 : </a:t>
            </a: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Navin CK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60720" y="3703320"/>
            <a:ext cx="3476880" cy="987552"/>
          </a:xfrm>
          <a:prstGeom prst="roundRect">
            <a:avLst>
              <a:gd name="adj" fmla="val 9259"/>
            </a:avLst>
          </a:prstGeom>
          <a:solidFill>
            <a:srgbClr val="142035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3794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4051080"/>
            <a:ext cx="347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i="1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[https://github.com/VenkataKishore123/Capstone_Project.git]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2FA4CED-F075-5767-415D-658657711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840" y="477828"/>
            <a:ext cx="2628000" cy="14323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088136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88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3272" y="1097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3272" y="1380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Objectives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2002536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02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3272" y="22951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Tools &amp; Libraries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916936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916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33272" y="2926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33272" y="32095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Design &amp; Project Structure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831336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831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33272" y="3840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— 26 Cases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33272" y="41239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· Files · Tabs · Mouse · Links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088136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088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22392" y="1097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Testing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22392" y="1380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@DataProvider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002536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002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22392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22392" y="22951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ExtentReports &amp; Screenshots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2916936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916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22392" y="2926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22392" y="32095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Issues &amp; Fixes Applied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831336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831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22392" y="3840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Conclusion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22392" y="41239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&amp; Key Takeaways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987552"/>
            <a:ext cx="0" cy="3886200"/>
          </a:xfrm>
          <a:prstGeom prst="line">
            <a:avLst/>
          </a:prstGeom>
          <a:noFill/>
          <a:ln w="12700">
            <a:solidFill>
              <a:srgbClr val="CDD5E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Introduction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 ·  Objectives  ·  Scope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896112"/>
            <a:ext cx="53949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9875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16736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end-to-end GUI Automation Testing framework built in Java using Selenium WebDriver and TestNG. It covers all major web UI interactions on a practice site, structured using the Page Object Model (POM) design pattern for maintainability and reusability.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89320" y="896112"/>
            <a:ext cx="278892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72200" y="987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2200" y="130759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all GUI element interactions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POM design pattern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testing with DataProvider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rich HTML test reports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6517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81635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</a:rPr>
              <a:t>26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34930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87752" y="26517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87752" y="281635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</a:rPr>
              <a:t>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587752" y="34930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Classes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64024" y="26517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64024" y="281635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64024" y="34930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Elements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0296" y="26517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0296" y="281635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POM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40296" y="34930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GUI website  →  26 automated tests  →  HTML report via ExtentReports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2633472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24712"/>
            <a:ext cx="621792" cy="62179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24358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16128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50876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350008"/>
            <a:ext cx="2331720" cy="54864"/>
          </a:xfrm>
          <a:prstGeom prst="roundRect">
            <a:avLst>
              <a:gd name="adj" fmla="val 50000"/>
            </a:avLst>
          </a:prstGeom>
          <a:solidFill>
            <a:srgbClr val="C9A227">
              <a:alpha val="50000"/>
            </a:srgbClr>
          </a:solidFill>
          <a:ln w="12700">
            <a:solidFill>
              <a:srgbClr val="C9A227">
                <a:alpha val="5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64408" y="960120"/>
            <a:ext cx="2633472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01568" y="1124712"/>
            <a:ext cx="621792" cy="62179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24358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33088" y="116128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33088" y="150876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engine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401568" y="2350008"/>
            <a:ext cx="2331720" cy="54864"/>
          </a:xfrm>
          <a:prstGeom prst="roundRect">
            <a:avLst>
              <a:gd name="adj" fmla="val 50000"/>
            </a:avLst>
          </a:prstGeom>
          <a:solidFill>
            <a:srgbClr val="C9A227">
              <a:alpha val="50000"/>
            </a:srgbClr>
          </a:solidFill>
          <a:ln w="12700">
            <a:solidFill>
              <a:srgbClr val="C9A227">
                <a:alpha val="5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17336" y="960120"/>
            <a:ext cx="2633472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54496" y="1124712"/>
            <a:ext cx="621792" cy="621792"/>
          </a:xfrm>
          <a:prstGeom prst="ellipse">
            <a:avLst/>
          </a:prstGeom>
          <a:solidFill>
            <a:srgbClr val="2B5CB0"/>
          </a:solidFill>
          <a:ln w="12700">
            <a:solidFill>
              <a:srgbClr val="2B5CB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24358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86016" y="116128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986016" y="150876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framework &amp; runner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254496" y="2350008"/>
            <a:ext cx="2331720" cy="54864"/>
          </a:xfrm>
          <a:prstGeom prst="roundRect">
            <a:avLst>
              <a:gd name="adj" fmla="val 50000"/>
            </a:avLst>
          </a:prstGeom>
          <a:solidFill>
            <a:srgbClr val="C9A227">
              <a:alpha val="50000"/>
            </a:srgbClr>
          </a:solidFill>
          <a:ln w="12700">
            <a:solidFill>
              <a:srgbClr val="C9A227">
                <a:alpha val="5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11480" y="2926080"/>
            <a:ext cx="2633472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48640" y="3090672"/>
            <a:ext cx="621792" cy="62179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3209544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312724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Pattern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280160" y="34747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design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48640" y="4315968"/>
            <a:ext cx="2331720" cy="54864"/>
          </a:xfrm>
          <a:prstGeom prst="roundRect">
            <a:avLst>
              <a:gd name="adj" fmla="val 50000"/>
            </a:avLst>
          </a:prstGeom>
          <a:solidFill>
            <a:srgbClr val="C9A227">
              <a:alpha val="50000"/>
            </a:srgbClr>
          </a:solidFill>
          <a:ln w="12700">
            <a:solidFill>
              <a:srgbClr val="C9A227">
                <a:alpha val="5000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264408" y="2926080"/>
            <a:ext cx="2633472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401568" y="3090672"/>
            <a:ext cx="621792" cy="62179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209544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133088" y="312724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ExtentReports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133088" y="34747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HTML test reporting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401568" y="4315968"/>
            <a:ext cx="2331720" cy="54864"/>
          </a:xfrm>
          <a:prstGeom prst="roundRect">
            <a:avLst>
              <a:gd name="adj" fmla="val 50000"/>
            </a:avLst>
          </a:prstGeom>
          <a:solidFill>
            <a:srgbClr val="C9A227">
              <a:alpha val="50000"/>
            </a:srgbClr>
          </a:solidFill>
          <a:ln w="12700">
            <a:solidFill>
              <a:srgbClr val="C9A227">
                <a:alpha val="50000"/>
              </a:srgbClr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117336" y="2926080"/>
            <a:ext cx="2633472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254496" y="3090672"/>
            <a:ext cx="621792" cy="621792"/>
          </a:xfrm>
          <a:prstGeom prst="ellipse">
            <a:avLst/>
          </a:prstGeom>
          <a:solidFill>
            <a:srgbClr val="2B5CB0"/>
          </a:solidFill>
          <a:ln w="12700">
            <a:solidFill>
              <a:srgbClr val="2B5CB0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368" y="3209544"/>
            <a:ext cx="384048" cy="3840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986016" y="312724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6986016" y="34747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dependency mgmt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254496" y="4315968"/>
            <a:ext cx="2331720" cy="54864"/>
          </a:xfrm>
          <a:prstGeom prst="roundRect">
            <a:avLst>
              <a:gd name="adj" fmla="val 50000"/>
            </a:avLst>
          </a:prstGeom>
          <a:solidFill>
            <a:srgbClr val="C9A227">
              <a:alpha val="50000"/>
            </a:srgbClr>
          </a:solidFill>
          <a:ln w="12700">
            <a:solidFill>
              <a:srgbClr val="C9A227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Architecture — POM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separates test logic from element locators and actions.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280160" y="1097280"/>
            <a:ext cx="6858000" cy="685800"/>
          </a:xfrm>
          <a:prstGeom prst="roundRect">
            <a:avLst>
              <a:gd name="adj" fmla="val 13333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0" y="1307592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130759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170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4630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GUIAutomationTest.java  —  34 @Test Methods using TestNG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0" cy="210312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1993392"/>
            <a:ext cx="6858000" cy="685800"/>
          </a:xfrm>
          <a:prstGeom prst="roundRect">
            <a:avLst>
              <a:gd name="adj" fmla="val 13333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23760" y="2203704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220370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2066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3591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GUIPage.java  —  All Locators (By.*) + Action Methods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2679192"/>
            <a:ext cx="0" cy="210312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2889504"/>
            <a:ext cx="6858000" cy="685800"/>
          </a:xfrm>
          <a:prstGeom prst="roundRect">
            <a:avLst>
              <a:gd name="adj" fmla="val 13333"/>
            </a:avLst>
          </a:prstGeom>
          <a:solidFill>
            <a:srgbClr val="2B5CB0"/>
          </a:solidFill>
          <a:ln w="12700">
            <a:solidFill>
              <a:srgbClr val="2B5CB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3760" y="3099816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30998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29626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/ Utility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325526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BaseTest.java  ·  ScreenshotUtil.java  ·  TestListener.java  . </a:t>
            </a:r>
            <a:r>
              <a:rPr lang="en-US" sz="1000" dirty="0" err="1">
                <a:solidFill>
                  <a:srgbClr val="9F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ExtentReportManager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3575304"/>
            <a:ext cx="0" cy="210312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0160" y="3785616"/>
            <a:ext cx="6858000" cy="685800"/>
          </a:xfrm>
          <a:prstGeom prst="roundRect">
            <a:avLst>
              <a:gd name="adj" fmla="val 13333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23760" y="399592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39959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3858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415137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ChromeDriver  →  Real Browser Interactions  →  Assertions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1097280"/>
            <a:ext cx="822960" cy="35661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0040" y="1097280"/>
            <a:ext cx="8229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4937760" cy="4023360"/>
          </a:xfrm>
          <a:prstGeom prst="roundRect">
            <a:avLst>
              <a:gd name="adj" fmla="val 3182"/>
            </a:avLst>
          </a:prstGeom>
          <a:solidFill>
            <a:srgbClr val="0A1628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987552"/>
            <a:ext cx="457200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Capstone_Project</a:t>
            </a:r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+-- </a:t>
            </a:r>
            <a:r>
              <a:rPr lang="en-US" sz="105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+-- main/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|   +-- java/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|   +-- resources/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+-- test/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+-- java/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|   +-- base/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|   |   +-- BaseTest.java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|   +-- pages/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|   |   +-- GUIPage.java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|   +-- tests/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|   |   +-- GUIAutomationTest.java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|   +-- utils/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|       +-- ExtentReportManager.java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|       +-- ScreenshotUtil.java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|       +-- TestListener.java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+-- resources/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    +-- sample.txt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        +-- sample2.txt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+-- reports/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+-- screenshots/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  +-- GUIAutomationReport.html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+-- pom.xml</a:t>
            </a:r>
          </a:p>
          <a:p>
            <a:r>
              <a:rPr lang="en-US" sz="1050" dirty="0">
                <a:solidFill>
                  <a:schemeClr val="accent1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+-- testng.xml</a:t>
            </a:r>
          </a:p>
        </p:txBody>
      </p:sp>
      <p:sp>
        <p:nvSpPr>
          <p:cNvPr id="5" name="Shape 3"/>
          <p:cNvSpPr/>
          <p:nvPr/>
        </p:nvSpPr>
        <p:spPr>
          <a:xfrm>
            <a:off x="5532120" y="868680"/>
            <a:ext cx="32461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87568" y="941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87568" y="12344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BaseTest.java initializes WebDriver (ChromeDriver), navigates to the test URL, and tears down after tests.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532120" y="1856232"/>
            <a:ext cx="32461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87568" y="19293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87568" y="222199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GUIPage.java — the POM layer with all locators (By.id, xpath, css) and reusable action methods.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32120" y="2843784"/>
            <a:ext cx="32461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87568" y="29169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87568" y="320954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GUIAutomationTest.java hosts all 26 @Test methods that call page actions and make assertions.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05974" y="3854196"/>
            <a:ext cx="3172265" cy="928116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050" dirty="0">
              <a:solidFill>
                <a:schemeClr val="bg1"/>
              </a:solidFill>
            </a:endParaRPr>
          </a:p>
          <a:p>
            <a:endParaRPr lang="en-IN" sz="1050" dirty="0">
              <a:solidFill>
                <a:schemeClr val="bg1"/>
              </a:solidFill>
            </a:endParaRPr>
          </a:p>
          <a:p>
            <a:r>
              <a:rPr lang="en-IN" sz="950" dirty="0" err="1">
                <a:solidFill>
                  <a:schemeClr val="bg1"/>
                </a:solidFill>
              </a:rPr>
              <a:t>ExtentReportManager</a:t>
            </a:r>
            <a:r>
              <a:rPr lang="en-IN" sz="950" dirty="0">
                <a:solidFill>
                  <a:schemeClr val="bg1"/>
                </a:solidFill>
              </a:rPr>
              <a:t> builds the HTML dashboard, </a:t>
            </a:r>
            <a:r>
              <a:rPr lang="en-IN" sz="950" dirty="0" err="1">
                <a:solidFill>
                  <a:schemeClr val="bg1"/>
                </a:solidFill>
              </a:rPr>
              <a:t>ScreenshotUtil</a:t>
            </a:r>
            <a:r>
              <a:rPr lang="en-IN" sz="950" dirty="0">
                <a:solidFill>
                  <a:schemeClr val="bg1"/>
                </a:solidFill>
              </a:rPr>
              <a:t> captures PNG evidence, and </a:t>
            </a:r>
            <a:r>
              <a:rPr lang="en-IN" sz="950" dirty="0" err="1">
                <a:solidFill>
                  <a:schemeClr val="bg1"/>
                </a:solidFill>
              </a:rPr>
              <a:t>TestListener</a:t>
            </a:r>
            <a:r>
              <a:rPr lang="en-IN" sz="950" dirty="0">
                <a:solidFill>
                  <a:schemeClr val="bg1"/>
                </a:solidFill>
              </a:rPr>
              <a:t> syncs test execution data between them</a:t>
            </a:r>
            <a:r>
              <a:rPr lang="en-IN" sz="105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5" name="Text 13"/>
          <p:cNvSpPr/>
          <p:nvPr/>
        </p:nvSpPr>
        <p:spPr>
          <a:xfrm>
            <a:off x="5687568" y="3904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87568" y="419709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Suite Overview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Test Cases  ·  All Major UI Interactions Covered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Elements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01–07  |  Text Fields · Radio Button · Checkboxes · Dropdowns · Scrolling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1069848"/>
            <a:ext cx="8394192" cy="484632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179576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7957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Fields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7180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enterName / enterEmail / enterPhone / enterAddress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92240" y="11612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DataProvider — 3 datasets (John, Jane, Ravi)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613916"/>
            <a:ext cx="8394192" cy="484632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1723644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236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" y="17053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Button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16870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selectGender("Male")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92240" y="17053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isGenderSelected returns true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2157984"/>
            <a:ext cx="8394192" cy="484632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2267712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26771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71800" y="22311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selectAllCheckboxes()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0" y="22494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XPath: all input[@type='checkbox']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2702052"/>
            <a:ext cx="8394192" cy="484632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2811780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8117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" y="27934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Dropdown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71800" y="277520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selectCountry("India")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27934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class – selectByVisibleText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" y="3246120"/>
            <a:ext cx="8394192" cy="484632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" y="33558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35584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78992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Dropdown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971800" y="33192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selectColor("Blue")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92240" y="3337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class – selectByVisibleText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" y="3790188"/>
            <a:ext cx="8394192" cy="484632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" y="3899916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389991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78992" y="38816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List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971800" y="38633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selectFromSortedList("Dog")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92240" y="38816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&lt;select&gt; on page (index 2)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4048" y="4334256"/>
            <a:ext cx="8394192" cy="484632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" y="4443984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44439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78992" y="4425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Scrolling Dropdown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971800" y="44074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selectFromScrollingDropdown(value)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92240" y="44256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Boundary: Items 1, 50, 100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Pickers &amp; File Uploads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08–12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4224528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Pickers  (T08 – T10)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150876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00200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5910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 1  (mm/dd/yyyy)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91109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dp.clear();  dp.sendKeys("06/13/2026");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dp.sendKeys(Keys.TAB); // confirm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" y="2587752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79192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7919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2670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 2  (dd/mm/yyyy)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99008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JS: arguments[0].value="13/06/2026"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dispatchEvent(new Event("change"))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" y="3666744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758184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5818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3749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Picker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0690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startInput.sendKeys("06/13/2026")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endInput.sendKeys("06/20/2026")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endInput.sendKeys(TAB);  JS.click(btn)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73168" y="987552"/>
            <a:ext cx="4041648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56048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  (T11 – T12)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19472" y="150876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92624" y="1618488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161848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 Upload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92624" y="194767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path = userDir + "/resources/sample.txt";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driver.findElement(singleFile)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.sendKeys(path);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19472" y="320040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92624" y="3310128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2624" y="331012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Files Upload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92624" y="363931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f1 = userDir + "/sample.txt";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f2 = userDir + "/sample2.txt";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driver.findElement(multipleFile)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.sendKeys(f1 + "\n" + f2);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Tabs  ·  Dynamic Elements  ·  Slider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13–15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100584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0584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63040"/>
            <a:ext cx="27432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078992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7899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Search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19202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8836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query in wiki search input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3774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3408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search button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8346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27980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wait.until(elementToBeClickable(result))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32918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2552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result link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37490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7124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numberOfWindowsToBe(2)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42062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696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switchTo() new tab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46634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6268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URL contains wikipedia.org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51206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50840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driver.close()  →  switchBack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10128" y="100584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10128" y="100584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0128" y="1463040"/>
            <a:ext cx="274320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19856" y="1078992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9856" y="107899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023360" y="1097280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Button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493008" y="19202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21608" y="18836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appears after a timed delay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93008" y="23774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21608" y="23408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WebDriverWait 10s timeout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93008" y="28346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21608" y="27980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ExpectedConditions.elementToBeClickable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93008" y="32918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21608" y="32552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scrollIntoView before click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93008" y="37490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21608" y="37124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btn.click() after condition met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93008" y="42062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21608" y="41696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Thread.sleep() used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36208" y="100584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36208" y="100584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2B5CB0"/>
          </a:solidFill>
          <a:ln w="12700">
            <a:solidFill>
              <a:srgbClr val="2B5CB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36208" y="1463040"/>
            <a:ext cx="2743200" cy="320040"/>
          </a:xfrm>
          <a:prstGeom prst="rect">
            <a:avLst/>
          </a:prstGeom>
          <a:solidFill>
            <a:srgbClr val="2B5CB0"/>
          </a:solidFill>
          <a:ln w="12700">
            <a:solidFill>
              <a:srgbClr val="2B5C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45936" y="1078992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45936" y="107899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49440" y="1097280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Slider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419088" y="19202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47688" y="18836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Locate: #slider-range .ui-slider-handle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19088" y="23774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47688" y="23408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wait.until(visibilityOfElement)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419088" y="28346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47688" y="27980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Actions(driver)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419088" y="32918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47688" y="32552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.dragAndDropBy(handle, 50, 0)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419088" y="37490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47688" y="37124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.perform()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419088" y="420624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47688" y="41696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captured after move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Handling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16–18  |  Simple Alert  ·  Confirmation Alert  ·  Prompt Alert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100584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0584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63040"/>
            <a:ext cx="27432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078992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7899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Alert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" y="1920240"/>
            <a:ext cx="2523744" cy="1627632"/>
          </a:xfrm>
          <a:prstGeom prst="roundRect">
            <a:avLst>
              <a:gd name="adj" fmla="val 4494"/>
            </a:avLst>
          </a:prstGeom>
          <a:solidFill>
            <a:srgbClr val="0A162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93392"/>
            <a:ext cx="23774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driver.findElement(simpleAlertBtn)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.click();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wait.until(alertIsPresent());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driver.switchTo()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.alert().accept();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3675888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OK on a basic JavaScript alert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10128" y="100584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0128" y="100584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1463040"/>
            <a:ext cx="274320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9856" y="1078992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9856" y="107899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23360" y="1097280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Alert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19856" y="1920240"/>
            <a:ext cx="2523744" cy="1627632"/>
          </a:xfrm>
          <a:prstGeom prst="roundRect">
            <a:avLst>
              <a:gd name="adj" fmla="val 4494"/>
            </a:avLst>
          </a:prstGeom>
          <a:solidFill>
            <a:srgbClr val="0A162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1993392"/>
            <a:ext cx="23774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driver.findElement(confirmAlertBtn)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.click();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wait.until(alertIsPresent());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driver.switchTo()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.alert().accept();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19856" y="3675888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OK/Cancel dialog — accepts 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36208" y="100584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6208" y="100584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2B5CB0"/>
          </a:solidFill>
          <a:ln w="12700">
            <a:solidFill>
              <a:srgbClr val="2B5C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6208" y="1463040"/>
            <a:ext cx="2743200" cy="320040"/>
          </a:xfrm>
          <a:prstGeom prst="rect">
            <a:avLst/>
          </a:prstGeom>
          <a:solidFill>
            <a:srgbClr val="2B5CB0"/>
          </a:solidFill>
          <a:ln w="12700">
            <a:solidFill>
              <a:srgbClr val="2B5C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45936" y="1078992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107899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1097280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Alert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45936" y="1920240"/>
            <a:ext cx="2523744" cy="1627632"/>
          </a:xfrm>
          <a:prstGeom prst="roundRect">
            <a:avLst>
              <a:gd name="adj" fmla="val 4494"/>
            </a:avLst>
          </a:prstGeom>
          <a:solidFill>
            <a:srgbClr val="0A1628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9088" y="1993392"/>
            <a:ext cx="23774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driver.findElement(promptAlertBtn)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.click();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a = driver.switchTo().alert();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a.sendKeys("Selenium Automation");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a.accept();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45936" y="3675888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text then accepts the prompt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&amp; Tab Management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19–20  |  New Tab  ·  Popup Window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1005840"/>
            <a:ext cx="4133088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05840"/>
            <a:ext cx="4133088" cy="731520"/>
          </a:xfrm>
          <a:prstGeom prst="roundRect">
            <a:avLst>
              <a:gd name="adj" fmla="val 150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63040"/>
            <a:ext cx="4133088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078992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07899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33856" y="1078992"/>
            <a:ext cx="33101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 Handling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5216" y="1883664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originalWindow = getWindowHandle()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" y="2240280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Click "New Tab" button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2596896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wait.until(numberOfWindowsToBe(2))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5216" y="2953512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Loop all handles → switch to new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3310128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Capture tab title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5216" y="3666744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driver.close() the new tab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5216" y="4023360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switchTo(originalWindow)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5216" y="4379976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Assert: tabTitle.isEmpty == false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73168" y="1005840"/>
            <a:ext cx="4133088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73168" y="1005840"/>
            <a:ext cx="4133088" cy="73152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1463040"/>
            <a:ext cx="4133088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0328" y="1078992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107899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22976" y="1078992"/>
            <a:ext cx="33101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Window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74336" y="1883664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 initialWindowCount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74336" y="2240280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JS.click(popupWindowBtn)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74336" y="2596896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wait until count &gt; initialCount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74336" y="2953512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Loop all handles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74336" y="3310128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For each non-original → switch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74336" y="3666744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Capture popupUrl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74336" y="4023360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driver.close() each popup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74336" y="4379976"/>
            <a:ext cx="3767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switchTo(originalWindow)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Mouse Actions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21–23  |  Mouse Hover  ·  Double Click  ·  Drag &amp; Drop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100584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05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63040"/>
            <a:ext cx="274320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078992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7899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Hover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1956816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92024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wait(visibilityOf("Point Me" btn))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487168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Actions(driver)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309067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054096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.moveToElement(btn).perform()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365760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621024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wait(visibility("Mobiles" link))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224528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18795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menu.isDisplayed() == true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10128" y="100584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10128" y="1005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0128" y="1463040"/>
            <a:ext cx="2743200" cy="2926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19856" y="1078992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107899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23360" y="109728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Click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93008" y="1956816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21608" y="192024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field1.sendKeys("AutoTest123")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93008" y="2523744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21608" y="2487168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Actions(driver)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93008" y="309067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21608" y="3054096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.doubleClick(copyButton).perform()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93008" y="365760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21608" y="3621024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getCopiedFieldValue(field2)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93008" y="4224528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21608" y="418795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field2.value == "AutoTest123"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36208" y="100584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36208" y="1005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2B5CB0"/>
          </a:solidFill>
          <a:ln w="12700">
            <a:solidFill>
              <a:srgbClr val="2B5C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36208" y="1463040"/>
            <a:ext cx="2743200" cy="292608"/>
          </a:xfrm>
          <a:prstGeom prst="rect">
            <a:avLst/>
          </a:prstGeom>
          <a:solidFill>
            <a:srgbClr val="2B5CB0"/>
          </a:solidFill>
          <a:ln w="12700">
            <a:solidFill>
              <a:srgbClr val="2B5C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5936" y="1078992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107899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49440" y="109728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419088" y="1956816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47688" y="192024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= wait(visibilityOf(draggable))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19088" y="2523744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47688" y="2487168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tgt = findElement(droppable)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19088" y="309067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47688" y="3054096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Actions(driver)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19088" y="365760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47688" y="3621024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.dragAndDrop(src, tgt).perform()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419088" y="4224528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47688" y="418795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captured after drop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Labels, Links &amp; Broken Link Verification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24–26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1005840"/>
            <a:ext cx="839419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097280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972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" y="1078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Mobile Labels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0" y="1078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Assert: contains "Samsung", "Real Me", "Moto"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" y="138988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getMobileLabelsText()  →  getText() on #mobiles container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2011680"/>
            <a:ext cx="8394192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2103120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10312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" y="2084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Links Navigation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20848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navigate.back() after each link click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78992" y="2395728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clickLaptopLinkAndReturn("apple")   → assert URL has "apple.com"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clickLaptopLinkAndReturn("lenovo")  → assert URL has "lenovo.com"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clickLaptopLinkAndReturn("dell")    → assert URL has "dell.com"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383280"/>
            <a:ext cx="8394192" cy="1344168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474720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47472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" y="3456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Links API Verification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0" y="3456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result: all 8 links return 4xx status codes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767328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HttpURLConnection con = new URL(href).openConnection();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con.setRequestMethod("HEAD");  con.connect();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(getResponseCode() &gt;= 400)  brokenCount++;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Assert.assertEquals(brokenCount, 8)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@DataProvider — testTextFields() executes automatically 3 times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0A1628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115568"/>
            <a:ext cx="4736592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@DataProvider(name = "formData")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Object[][] getFormData()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Object[][]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"John Doe",   "john@test.com",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"9876543210", "123 Main St",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"Male",   "India",  "Blue", "Dog"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"Jane Smith", "jane@test.com",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"9123456789", "456 Oak Ave",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"Female", "Canada", "Green", "Cat"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"Ravi Kumar", "ravi@test.com",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"9001122334", "789 Pine Rd",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"Male",   "India",  "Red",  "Lion"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577840" y="987552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09728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Data-Driven?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1554480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7024" y="150876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method, 3 automatic runs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0" y="2029968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07024" y="198424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different users, countries, genders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0" y="2505456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07024" y="245973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code duplication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0" y="2980944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07024" y="293522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real multi-user scenarios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0" y="345643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07024" y="341071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saved per data set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4206240"/>
            <a:ext cx="8394192" cy="566928"/>
          </a:xfrm>
          <a:prstGeom prst="roundRect">
            <a:avLst>
              <a:gd name="adj" fmla="val 16129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2062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testTextFields() runs 3 times  →  John Doe  ✓  |  Jane Smith  ✓  |  Ravi Kumar  ✓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162640"/>
          </a:solidFill>
          <a:ln w="12700">
            <a:solidFill>
              <a:srgbClr val="1626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Reporting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ExtentReports  ·  Screenshots  ·  TestNG Listener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ExtentReports — HTML Test Reporting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41248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841248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828800" y="1207008"/>
            <a:ext cx="2743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841248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841248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TestListener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11880" y="1207008"/>
            <a:ext cx="2743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86200" y="841248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86200" y="841248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ScreenshotUtil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 PNG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94960" y="1207008"/>
            <a:ext cx="2743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841248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841248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ExtentReports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78040" y="1207008"/>
            <a:ext cx="2743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841248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52360" y="841248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17830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1984248"/>
            <a:ext cx="512064" cy="51206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70432" y="19842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Screenshots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70432" y="2313432"/>
            <a:ext cx="33101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ScreenshotUtil.capture(driver, testName) saves a PNG. Path is attached to the report entry via MediaEntityBuilder.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91456" y="17830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56048" y="1984248"/>
            <a:ext cx="512064" cy="51206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77840" y="19842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Log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0" y="2313432"/>
            <a:ext cx="33101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TestListener implements ITestListener. Every @Test pass or fail is auto-logged with name and a timestamp.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" y="3355848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3557016"/>
            <a:ext cx="512064" cy="51206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570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70432" y="355701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70432" y="3886200"/>
            <a:ext cx="33101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HTML file is generated post-run with color-coded statuses, test durations, and collapsible entries.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91456" y="3355848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56048" y="3557016"/>
            <a:ext cx="512064" cy="51206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35570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577840" y="355701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Media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77840" y="3886200"/>
            <a:ext cx="33101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MediaEntityBuilder.createScreenCaptureFromPath(path) embeds screenshots directly inside the log entry.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FB6019-CE28-22AA-0895-EE9B159F4846}"/>
              </a:ext>
            </a:extLst>
          </p:cNvPr>
          <p:cNvSpPr txBox="1"/>
          <p:nvPr/>
        </p:nvSpPr>
        <p:spPr>
          <a:xfrm>
            <a:off x="119575" y="211015"/>
            <a:ext cx="6935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highlight>
                  <a:srgbClr val="008080"/>
                </a:highlight>
              </a:rPr>
              <a:t>Automated Test Execution Results – (TC01–TC22)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F9BE7F-DFD6-B0C0-F4C8-4746F1AC3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7" y="735917"/>
            <a:ext cx="4670911" cy="42528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A3D23E-77D3-47EA-0009-1FE2431D3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387" y="698410"/>
            <a:ext cx="3990250" cy="429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748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0EDF50-4524-36E7-03DA-0C15C619A4C0}"/>
              </a:ext>
            </a:extLst>
          </p:cNvPr>
          <p:cNvSpPr txBox="1"/>
          <p:nvPr/>
        </p:nvSpPr>
        <p:spPr>
          <a:xfrm>
            <a:off x="1086730" y="212773"/>
            <a:ext cx="65625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highlight>
                  <a:srgbClr val="008080"/>
                </a:highlight>
              </a:rPr>
              <a:t>Automated Test Execution Results – (TC023–TC34)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42FBBA-EF6A-1A0D-6798-FCA115DD9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609" y="822960"/>
            <a:ext cx="4157003" cy="410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544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2C463D-97AE-C14B-253A-234364250EDD}"/>
              </a:ext>
            </a:extLst>
          </p:cNvPr>
          <p:cNvSpPr txBox="1"/>
          <p:nvPr/>
        </p:nvSpPr>
        <p:spPr>
          <a:xfrm>
            <a:off x="3341076" y="8519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highlight>
                  <a:srgbClr val="800080"/>
                </a:highlight>
              </a:rPr>
              <a:t>Screenshots</a:t>
            </a:r>
            <a:endParaRPr lang="en-IN" sz="2400" b="1" dirty="0">
              <a:highlight>
                <a:srgbClr val="80008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A691AB-5493-40EA-7613-DDFDB8AF813B}"/>
              </a:ext>
            </a:extLst>
          </p:cNvPr>
          <p:cNvSpPr txBox="1"/>
          <p:nvPr/>
        </p:nvSpPr>
        <p:spPr>
          <a:xfrm>
            <a:off x="977706" y="880962"/>
            <a:ext cx="26798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highlight>
                  <a:srgbClr val="008000"/>
                </a:highlight>
              </a:rPr>
              <a:t>Text Field Input Validation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5A282F-69F2-4350-7F9C-DC4689CAC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15" y="1252025"/>
            <a:ext cx="4494627" cy="36646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2DC908-E42E-09F2-AEE8-FBE04B4BE801}"/>
              </a:ext>
            </a:extLst>
          </p:cNvPr>
          <p:cNvSpPr txBox="1"/>
          <p:nvPr/>
        </p:nvSpPr>
        <p:spPr>
          <a:xfrm>
            <a:off x="5324621" y="86557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008000"/>
                </a:highlight>
              </a:rPr>
              <a:t>Wikipedia Search Validation</a:t>
            </a:r>
            <a:endParaRPr lang="en-IN" sz="1800" b="1" dirty="0">
              <a:highlight>
                <a:srgbClr val="008000"/>
              </a:highligh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DD74F3-FCCB-55F4-FD45-2D0A30E37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910" y="1336431"/>
            <a:ext cx="3896751" cy="358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245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430139-78AE-AB2F-2262-5A118B159541}"/>
              </a:ext>
            </a:extLst>
          </p:cNvPr>
          <p:cNvSpPr txBox="1"/>
          <p:nvPr/>
        </p:nvSpPr>
        <p:spPr>
          <a:xfrm>
            <a:off x="3446585" y="10723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highlight>
                  <a:srgbClr val="800080"/>
                </a:highlight>
              </a:rPr>
              <a:t>Screenshots</a:t>
            </a:r>
            <a:endParaRPr lang="en-IN" sz="2400" b="1" dirty="0">
              <a:highlight>
                <a:srgbClr val="80008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74851-403B-F292-10CE-FA07C9F6E3CE}"/>
              </a:ext>
            </a:extLst>
          </p:cNvPr>
          <p:cNvSpPr txBox="1"/>
          <p:nvPr/>
        </p:nvSpPr>
        <p:spPr>
          <a:xfrm>
            <a:off x="239151" y="7736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008000"/>
                </a:highlight>
              </a:rPr>
              <a:t>Slider Control Functionality Testing</a:t>
            </a:r>
            <a:endParaRPr lang="en-IN" sz="1800" b="1" dirty="0">
              <a:highlight>
                <a:srgbClr val="00800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8A254D-E848-A682-416B-9D5355184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43" y="1277425"/>
            <a:ext cx="4297680" cy="36462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697FCD-8195-A8E1-F7A1-8E2CF4433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679" y="1277425"/>
            <a:ext cx="4332849" cy="36462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80DA04A-2C59-2BA1-4910-2B3B63B2E5ED}"/>
              </a:ext>
            </a:extLst>
          </p:cNvPr>
          <p:cNvSpPr txBox="1"/>
          <p:nvPr/>
        </p:nvSpPr>
        <p:spPr>
          <a:xfrm>
            <a:off x="4860388" y="73849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008000"/>
                </a:highlight>
              </a:rPr>
              <a:t>Drag and Drop Functionality Validation</a:t>
            </a:r>
            <a:endParaRPr lang="en-IN" sz="1800" b="1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52430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3881BA-40D9-BE3F-8121-D5C321349D84}"/>
              </a:ext>
            </a:extLst>
          </p:cNvPr>
          <p:cNvSpPr txBox="1"/>
          <p:nvPr/>
        </p:nvSpPr>
        <p:spPr>
          <a:xfrm>
            <a:off x="3446585" y="11427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highlight>
                  <a:srgbClr val="800080"/>
                </a:highlight>
              </a:rPr>
              <a:t>Screenshots</a:t>
            </a:r>
            <a:endParaRPr lang="en-IN" sz="2400" b="1" dirty="0">
              <a:highlight>
                <a:srgbClr val="80008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A253A-FDCE-1631-02E7-7F3FFDAC5851}"/>
              </a:ext>
            </a:extLst>
          </p:cNvPr>
          <p:cNvSpPr txBox="1"/>
          <p:nvPr/>
        </p:nvSpPr>
        <p:spPr>
          <a:xfrm>
            <a:off x="386861" y="76138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008000"/>
                </a:highlight>
              </a:rPr>
              <a:t>Double Click Functionality Testing</a:t>
            </a:r>
            <a:endParaRPr lang="en-IN" sz="1800" b="1" dirty="0">
              <a:highlight>
                <a:srgbClr val="00800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6E8047-4789-844E-E0B6-EA7D1E418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5" y="1216855"/>
            <a:ext cx="4712676" cy="36857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7AC076-EA9A-B4B9-07AC-FAEBB497E9CB}"/>
              </a:ext>
            </a:extLst>
          </p:cNvPr>
          <p:cNvSpPr txBox="1"/>
          <p:nvPr/>
        </p:nvSpPr>
        <p:spPr>
          <a:xfrm>
            <a:off x="5275385" y="76138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008000"/>
                </a:highlight>
              </a:rPr>
              <a:t>Date Picker Functionality Verification</a:t>
            </a:r>
            <a:endParaRPr lang="en-IN" sz="1800" b="1" dirty="0">
              <a:highlight>
                <a:srgbClr val="008000"/>
              </a:highligh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7E8626-646B-34E0-290D-BF04AF24A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216856"/>
            <a:ext cx="4114800" cy="368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17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141EA5-6073-162C-A541-249907FE955A}"/>
              </a:ext>
            </a:extLst>
          </p:cNvPr>
          <p:cNvSpPr txBox="1"/>
          <p:nvPr/>
        </p:nvSpPr>
        <p:spPr>
          <a:xfrm>
            <a:off x="2968283" y="11427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highlight>
                  <a:srgbClr val="808000"/>
                </a:highlight>
              </a:rPr>
              <a:t>Console Output</a:t>
            </a:r>
            <a:endParaRPr lang="en-IN" sz="2400" b="1" dirty="0">
              <a:highlight>
                <a:srgbClr val="8080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64214-5B15-AC2F-B684-99C8E4320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628765"/>
            <a:ext cx="7209847" cy="42738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09E5E8-CBD0-879F-762F-0AF8B79D7699}"/>
              </a:ext>
            </a:extLst>
          </p:cNvPr>
          <p:cNvSpPr txBox="1"/>
          <p:nvPr/>
        </p:nvSpPr>
        <p:spPr>
          <a:xfrm>
            <a:off x="7378659" y="1617854"/>
            <a:ext cx="15965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highlight>
                  <a:srgbClr val="008000"/>
                </a:highlight>
              </a:rPr>
              <a:t>Total </a:t>
            </a:r>
            <a:r>
              <a:rPr lang="en-US" sz="2400" b="1" dirty="0">
                <a:solidFill>
                  <a:srgbClr val="FFFF00"/>
                </a:solidFill>
                <a:highlight>
                  <a:srgbClr val="008000"/>
                </a:highlight>
              </a:rPr>
              <a:t>34/34</a:t>
            </a:r>
            <a:br>
              <a:rPr lang="en-US" sz="2400" b="1" dirty="0">
                <a:highlight>
                  <a:srgbClr val="008000"/>
                </a:highlight>
              </a:rPr>
            </a:br>
            <a:r>
              <a:rPr lang="en-US" sz="2400" b="1" dirty="0">
                <a:highlight>
                  <a:srgbClr val="008000"/>
                </a:highlight>
              </a:rPr>
              <a:t>Test Cases </a:t>
            </a:r>
            <a:br>
              <a:rPr lang="en-US" sz="2400" b="1" dirty="0">
                <a:highlight>
                  <a:srgbClr val="008000"/>
                </a:highlight>
              </a:rPr>
            </a:br>
            <a:r>
              <a:rPr lang="en-US" sz="2400" b="1" dirty="0">
                <a:highlight>
                  <a:srgbClr val="008000"/>
                </a:highlight>
              </a:rPr>
              <a:t>Passed</a:t>
            </a:r>
            <a:endParaRPr lang="en-IN" sz="2400" b="1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836049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encountered and fixed during development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106424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0642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1106424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Date Picker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353312"/>
            <a:ext cx="3657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24128"/>
            <a:ext cx="41605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06424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0642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21808" y="110642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JavascriptExecutor to inject value directly + dispatchEvent('change') to trigger page logic.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1828800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1911096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91109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" y="1911096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Scrolling Dropdown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51960" y="2157984"/>
            <a:ext cx="3657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828800"/>
            <a:ext cx="41605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911096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91109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21808" y="191109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as a custom &lt;div class='option'&gt; (not a &lt;select&gt;). Used XPath + JS scrollIntoView to locate &amp; click.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2633472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271576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71576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24128" y="2715768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Date Calendar Popup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51960" y="2962656"/>
            <a:ext cx="3657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633472"/>
            <a:ext cx="41605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715768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71576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21808" y="27157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Pressed TAB after filling end date to close Chrome's native date picker before JS-clicking Submit.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" y="3438144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" y="3520440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52044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24128" y="352044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Popup Windows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51960" y="3767328"/>
            <a:ext cx="3657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438144"/>
            <a:ext cx="41605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520440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52044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21808" y="35204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window handles before click. Iterated all handles after, closed every non-original, returned URL.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4048" y="4242816"/>
            <a:ext cx="3840480" cy="658368"/>
          </a:xfrm>
          <a:prstGeom prst="roundRect">
            <a:avLst>
              <a:gd name="adj" fmla="val 11111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" y="4325112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432511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24128" y="4325112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Start Button Timing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51960" y="4572000"/>
            <a:ext cx="3657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4242816"/>
            <a:ext cx="41605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4325112"/>
            <a:ext cx="457200" cy="237744"/>
          </a:xfrm>
          <a:prstGeom prst="roundRect">
            <a:avLst>
              <a:gd name="adj" fmla="val 2307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432511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21808" y="432511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fixed Thread.sleep() with WebDriverWait + elementToBeClickable for a stable, non-flaky wait.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108960"/>
            <a:ext cx="2743200" cy="27432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182880"/>
            <a:ext cx="914400" cy="9144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0040"/>
            <a:ext cx="8321040" cy="1783080"/>
          </a:xfrm>
          <a:prstGeom prst="roundRect">
            <a:avLst>
              <a:gd name="adj" fmla="val 7179"/>
            </a:avLst>
          </a:prstGeom>
          <a:solidFill>
            <a:srgbClr val="142035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3891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877824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i="1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[https://github.com/VenkataKishore123/Capstone_Project.git 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GUIPage.java  ·  GUIAutomationTest.java  ·  BaseTest.java  ·  pom.xml  ·  test-output/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2651760" y="3291840"/>
            <a:ext cx="3931920" cy="45720"/>
          </a:xfrm>
          <a:prstGeom prst="roundRect">
            <a:avLst>
              <a:gd name="adj" fmla="val 4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56432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Surisetti Venkata Kishore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Navin 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 ·  Java  ·  TestNG  ·  Page Object Model  ·  ExtentReports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125</TotalTime>
  <Words>2060</Words>
  <Application>Microsoft Office PowerPoint</Application>
  <PresentationFormat>On-screen Show (16:9)</PresentationFormat>
  <Paragraphs>421</Paragraphs>
  <Slides>26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 Automation Testing - Capstone Project</dc:title>
  <dc:subject>PptxGenJS Presentation</dc:subject>
  <dc:creator>Surisetti Venkata Kishore</dc:creator>
  <cp:lastModifiedBy>surisetti venkata kishore</cp:lastModifiedBy>
  <cp:revision>4</cp:revision>
  <dcterms:created xsi:type="dcterms:W3CDTF">2026-06-15T05:35:49Z</dcterms:created>
  <dcterms:modified xsi:type="dcterms:W3CDTF">2026-06-15T20:15:15Z</dcterms:modified>
</cp:coreProperties>
</file>